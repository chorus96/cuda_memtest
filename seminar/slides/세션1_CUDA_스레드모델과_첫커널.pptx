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1 도입. 오늘은 CUDA의 가장 기본인 커널과 스레드 모델을 cuda_memtest의 실제 커널로 배웁니다. 장난감 예제가 아니라 실무 코드라는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목표를 미리 보여주고, 세션 끝에 다시 돌아와 자가 점검하겠다고 예고하세요.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SIMT 개념만 각인시키면 됩니다. GPU는 '같은 명령을 수천 스레드가 서로 다른 데이터에' 실행한다.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반환형이 항상 void라는 점, 결과는 인자로 받은 포인터를 통해 메모리에 남긴다는 점을 강조하세요. tests.cpp:245.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저장소의 Test 0~9는 블록당 스레드 1개(&lt;&lt;&lt;grid,1&gt;&gt;&gt;)라는 아주 단순한 구성을 씁니다. 왜 그런지는 뒤에서.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 계층: Grid⊃Block⊃Thread. 각 스레드는 (blockIdx, threadIdx)로 자기 위치를 안다. cuda_memtest의 두 구성도 함께 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blockIdx/threadIdx는 '읽기 전용, 스레드마다 다름', blockDim/gridDim은 '모든 스레드가 같은 값'이라는 대비를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통찰: 스레드/블록이 겹치지 않는 자기 구역을 갖는 것이 병렬 프로그래밍의 기본. cuda_memtest.h:91.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줄씩: 포인터 계산 → 경계 검사 → 루프로 채우기. sizeof로 나눠 4바이트 단위 인덱싱하는 부분을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대비가 세미나 전체의 뼈대입니다. 같은 문제를 느린 방식과 빠른 방식으로 푸는 코드가 한 저장소에 있다는 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커널 launch는 CPU 코드 안의 한 줄이라는 점, dim3로 그리드 차원을 지정한다는 점을 설명하세요.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랩 문서(세션1_실습랩.md)를 나눠주고 진행합니다. Ex 4는 반드시 원복하도록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목표(슬라이드 2)로 돌아가 자가 점검을 유도하세요.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write 커널이 다음 세션 read 커널로 이어진다는 연속성을 강조하며 마무리하세요.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스레드 모델과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커널(kernel)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 실제 코드로 배우는 GPU 프로그래밍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6949440" cy="914400"/>
          </a:xfrm>
          <a:prstGeom prst="roundRect">
            <a:avLst>
              <a:gd name="adj" fmla="val 6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5266944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kernel_move_inv_write(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char* _ptr, char* end_ptr, unsigned int pattern);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5532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 과정 · C를 아는 개발자 대상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커널이란 무엇인가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__global__ 함수가 일반 C 함수와 어떻게 다른지 설명할 수 있다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구성 &lt;&lt;&lt;grid, block&gt;&gt;&gt;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그리드(grid)·블록(block)·스레드(thread)의 3단 계층을 이해한다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스레드는 자기 데이터를 어떻게 찾나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blockIdx·threadIdx·blockDim·gridDim의 역할을 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커널 완독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kernel_move_inv_write를 한 줄씩 설명할 수 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 · GPU는 왜 다른가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— 지연시간(latency) 최적화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소수의 강력한 코어 (수 개~수십 개)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분기·순차 작업에 강함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하나가 한 작업을 빠르게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캐시, 정교한 예측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— 처리량(throughput) 최적화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개의 단순한 코어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연산을 대량 데이터에 동시에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SIMT — Single Instruction, Multiple Threads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대역폭이 핵심 (수백 GB/s)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cuda_memtest는 4 GB 메모리를 검사합니다 — 수천 스레드가 동시에 일해야 현실적인 시간에 끝납니다.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커널(kernel)이란?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</a:t>
            </a:r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GPU에서 실행되는 함수입니다. CPU(호스트)가 </a:t>
            </a:r>
            <a:pPr indent="0" marL="0">
              <a:buNone/>
            </a:pPr>
            <a:r>
              <a:rPr lang="en-US" sz="18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GPU(디바이스)의 수많은 스레드가 </a:t>
            </a:r>
            <a:pPr indent="0" marL="0">
              <a:buNone/>
            </a:pPr>
            <a:r>
              <a:rPr lang="en-US" sz="18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</a:t>
            </a:r>
            <a:pPr indent="0" marL="0">
              <a:buNone/>
            </a:pPr>
            <a:r>
              <a:rPr lang="en-US" sz="18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478024"/>
            <a:ext cx="10661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void kernel_move_inv_write(char* _ptr, char* end_ptr, unsigned int pattern)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▲ 한정자        ▲ 반환형은 항상 void      ▲ 인자는 값 또는 디바이스 포인터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3444240" cy="1828800"/>
          </a:xfrm>
          <a:prstGeom prst="roundRect">
            <a:avLst>
              <a:gd name="adj" fmla="val 4000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41605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호출 → GPU가 실행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커널. &lt;&lt;&lt;&gt;&gt;&gt;로 부른다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58640" y="3977640"/>
            <a:ext cx="3444240" cy="1828800"/>
          </a:xfrm>
          <a:prstGeom prst="roundRect">
            <a:avLst>
              <a:gd name="adj" fmla="val 4000"/>
            </a:avLst>
          </a:prstGeom>
          <a:solidFill>
            <a:srgbClr val="1E232C"/>
          </a:solidFill>
          <a:ln/>
        </p:spPr>
      </p:sp>
      <p:sp>
        <p:nvSpPr>
          <p:cNvPr id="11" name="Text 9"/>
          <p:cNvSpPr/>
          <p:nvPr/>
        </p:nvSpPr>
        <p:spPr>
          <a:xfrm>
            <a:off x="4587240" y="41605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__device__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7240" y="466344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GPU에서 GPU만 호출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쓰는 보조 함수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68640" y="3977640"/>
            <a:ext cx="3444240" cy="1828800"/>
          </a:xfrm>
          <a:prstGeom prst="roundRect">
            <a:avLst>
              <a:gd name="adj" fmla="val 4000"/>
            </a:avLst>
          </a:prstGeom>
          <a:solidFill>
            <a:srgbClr val="1E232C"/>
          </a:solidFill>
          <a:ln/>
        </p:spPr>
      </p:sp>
      <p:sp>
        <p:nvSpPr>
          <p:cNvPr id="14" name="Text 12"/>
          <p:cNvSpPr/>
          <p:nvPr/>
        </p:nvSpPr>
        <p:spPr>
          <a:xfrm>
            <a:off x="8397240" y="4160520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__host__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97240" y="466344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CPU 함수 (기본값)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생략하면 host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구성 &lt;&lt;&lt;grid, block&gt;&gt;&gt;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커널을 부를 때 '스레드를 몇 개, 어떻게 묶어' 실행할지 지정합니다.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12264"/>
            <a:ext cx="5998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kernel_move_inv_write</a:t>
            </a:r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&lt;&lt;&lt;128, 1&gt;&gt;&gt;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(ptr, end_ptr, p1);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96596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그리드(grid) = 블록 128개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18120" y="260604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18120" y="2679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129016" y="299008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12" name="Shape 10"/>
          <p:cNvSpPr/>
          <p:nvPr/>
        </p:nvSpPr>
        <p:spPr>
          <a:xfrm>
            <a:off x="8732520" y="260604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32520" y="2679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43416" y="299008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15" name="Shape 13"/>
          <p:cNvSpPr/>
          <p:nvPr/>
        </p:nvSpPr>
        <p:spPr>
          <a:xfrm>
            <a:off x="9646920" y="260604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2679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957816" y="299008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61320" y="260604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61320" y="2679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872216" y="299008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21" name="Shape 19"/>
          <p:cNvSpPr/>
          <p:nvPr/>
        </p:nvSpPr>
        <p:spPr>
          <a:xfrm>
            <a:off x="7818120" y="365760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18120" y="3730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29016" y="404164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24" name="Shape 22"/>
          <p:cNvSpPr/>
          <p:nvPr/>
        </p:nvSpPr>
        <p:spPr>
          <a:xfrm>
            <a:off x="8732520" y="365760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32520" y="3730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043416" y="404164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27" name="Shape 25"/>
          <p:cNvSpPr/>
          <p:nvPr/>
        </p:nvSpPr>
        <p:spPr>
          <a:xfrm>
            <a:off x="9646920" y="365760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3730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57816" y="404164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61320" y="365760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61320" y="37307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872216" y="404164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33" name="Shape 31"/>
          <p:cNvSpPr/>
          <p:nvPr/>
        </p:nvSpPr>
        <p:spPr>
          <a:xfrm>
            <a:off x="7818120" y="470916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4782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129016" y="509320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36" name="Shape 34"/>
          <p:cNvSpPr/>
          <p:nvPr/>
        </p:nvSpPr>
        <p:spPr>
          <a:xfrm>
            <a:off x="8732520" y="470916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32520" y="4782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043416" y="509320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39" name="Shape 37"/>
          <p:cNvSpPr/>
          <p:nvPr/>
        </p:nvSpPr>
        <p:spPr>
          <a:xfrm>
            <a:off x="9646920" y="470916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46920" y="4782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957816" y="509320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42" name="Shape 40"/>
          <p:cNvSpPr/>
          <p:nvPr/>
        </p:nvSpPr>
        <p:spPr>
          <a:xfrm>
            <a:off x="10561320" y="4709160"/>
            <a:ext cx="777240" cy="868680"/>
          </a:xfrm>
          <a:prstGeom prst="roundRect">
            <a:avLst>
              <a:gd name="adj" fmla="val 5882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61320" y="4782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872216" y="5093208"/>
            <a:ext cx="164592" cy="164592"/>
          </a:xfrm>
          <a:prstGeom prst="ellipse">
            <a:avLst/>
          </a:prstGeom>
          <a:solidFill>
            <a:srgbClr val="8CC63F"/>
          </a:solidFill>
          <a:ln/>
        </p:spPr>
      </p:sp>
      <p:sp>
        <p:nvSpPr>
          <p:cNvPr id="45" name="Text 43"/>
          <p:cNvSpPr/>
          <p:nvPr/>
        </p:nvSpPr>
        <p:spPr>
          <a:xfrm>
            <a:off x="7818120" y="5715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= 스레드 1개  (블록당 1개)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292608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숫자 = 블록 수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안에 블록이 몇 개인가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번째 숫자 = 블록당 스레드 수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블록 안에 스레드가 몇 개인가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스레드 = 128 × 1 = 128개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계층 구조 · Grid → Block → Thread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커널을 실행하면 스레드가 3단 계층으로 조직됩니다. 큰 격자(그리드) 안에 블록, 블록 안에 스레드.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492240" cy="3977640"/>
          </a:xfrm>
          <a:prstGeom prst="roundRect">
            <a:avLst>
              <a:gd name="adj" fmla="val 1379"/>
            </a:avLst>
          </a:prstGeom>
          <a:solidFill>
            <a:srgbClr val="1E232C"/>
          </a:solidFill>
          <a:ln w="19050">
            <a:solidFill>
              <a:srgbClr val="8CC6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928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그리드(Grid)  ·  gridDim.x = 128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054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980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62072" y="23774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25054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62072" y="27980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01184" y="237744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25400">
            <a:solidFill>
              <a:srgbClr val="4FB0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250545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01184" y="279806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38328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11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62072" y="338328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62072" y="3511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62072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01184" y="338328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351129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01184" y="38039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171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8097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62072" y="438912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45171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62072" y="48097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01184" y="4389120"/>
            <a:ext cx="1783080" cy="822960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45171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01184" y="48097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blockIdx.x=8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" y="5376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블록 127까지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59168" y="3063240"/>
            <a:ext cx="685800" cy="0"/>
          </a:xfrm>
          <a:prstGeom prst="line">
            <a:avLst/>
          </a:prstGeom>
          <a:noFill/>
          <a:ln w="31750">
            <a:solidFill>
              <a:srgbClr val="4FB0C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7022592" y="26517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18120" y="1783080"/>
            <a:ext cx="3794760" cy="3977640"/>
          </a:xfrm>
          <a:prstGeom prst="roundRect">
            <a:avLst>
              <a:gd name="adj" fmla="val 1446"/>
            </a:avLst>
          </a:prstGeom>
          <a:solidFill>
            <a:srgbClr val="1E232C"/>
          </a:solidFill>
          <a:ln w="19050">
            <a:solidFill>
              <a:srgbClr val="4FB0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0" y="18928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블록(Block)  ·  blockIdx.x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46720" y="23317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스레드(Thread) · threadIdx.x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092440" y="278892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9244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915400" y="278892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1540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738360" y="278892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3836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T2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561320" y="2788920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6132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92440" y="3675888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92440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T4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915400" y="3675888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15400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T5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9738360" y="3675888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38360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T6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561320" y="3675888"/>
            <a:ext cx="658368" cy="658368"/>
          </a:xfrm>
          <a:prstGeom prst="roundRect">
            <a:avLst>
              <a:gd name="adj" fmla="val 555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561320" y="3675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92440" y="451713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threadIdx.x = 0 ~ (blockDim.x − 1)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818120" y="4846320"/>
            <a:ext cx="3794760" cy="822960"/>
          </a:xfrm>
          <a:prstGeom prst="roundRect">
            <a:avLst>
              <a:gd name="adj" fmla="val 5556"/>
            </a:avLst>
          </a:prstGeom>
          <a:solidFill>
            <a:srgbClr val="1A2418"/>
          </a:solidFill>
          <a:ln/>
        </p:spPr>
      </p:sp>
      <p:sp>
        <p:nvSpPr>
          <p:cNvPr id="58" name="Text 56"/>
          <p:cNvSpPr/>
          <p:nvPr/>
        </p:nvSpPr>
        <p:spPr>
          <a:xfrm>
            <a:off x="8001000" y="4919472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저장소: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0~9 → 블록당 스레드 1개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10 → 블록당 64개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변수 · 스레드의 신분증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안에서 자동으로 주어지는 값들. 이것으로 '내가 몇 번째 스레드인지'를 계산합니다.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1E23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1284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49040" y="2212848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이 블록의 번호 (그리드 안에서)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72384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8211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threadIdx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3182112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이 스레드의 번호 (블록 안에서)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1E232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5137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blockDim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49040" y="4151376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블록당 스레드 수 (블록 크기)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010912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1E23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1206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gridDim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49040" y="5120640"/>
            <a:ext cx="7589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그리드의 블록 수 (그리드 크기)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저장소는 .x 만 씁니다 (1차원). 실전에선 .x/.y/.z 로 2·3차원도 가능합니다.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저장소의 관례 · 블록 1개 = 1 MB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BLOCKSIZE ((unsigned long)(1024*1024))   // = 1 MB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unsigned int* ptr = (unsigned int*)(_ptr + </a:t>
            </a:r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blockIdx.x * BLOCKSIZE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" y="3108960"/>
            <a:ext cx="1789176" cy="9144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18688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MB~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0112" y="3108960"/>
            <a:ext cx="1789176" cy="9144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2680" y="3218688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92680" y="3566160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MB~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4152" y="3108960"/>
            <a:ext cx="1789176" cy="9144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6720" y="3218688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36720" y="3566160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MB~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08192" y="3108960"/>
            <a:ext cx="1789176" cy="9144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3218688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3566160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MB~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2232" y="3108960"/>
            <a:ext cx="1789176" cy="914400"/>
          </a:xfrm>
          <a:prstGeom prst="roundRect">
            <a:avLst>
              <a:gd name="adj" fmla="val 4000"/>
            </a:avLst>
          </a:prstGeom>
          <a:solidFill>
            <a:srgbClr val="0E1116"/>
          </a:solidFill>
          <a:ln w="12700">
            <a:solidFill>
              <a:srgbClr val="8CC6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4800" y="3218688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24800" y="3566160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MB~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796272" y="3108960"/>
            <a:ext cx="1789176" cy="914400"/>
          </a:xfrm>
          <a:prstGeom prst="roundRect">
            <a:avLst>
              <a:gd name="adj" fmla="val 4000"/>
            </a:avLst>
          </a:prstGeom>
          <a:solidFill>
            <a:srgbClr val="1A1414"/>
          </a:solidFill>
          <a:ln w="12700">
            <a:solidFill>
              <a:srgbClr val="4FB0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8840" y="3218688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· 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68840" y="3566160"/>
            <a:ext cx="1844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330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GPU 메모리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번호(blockIdx.x)에 1 MB를 곱해 자기 구역을 정합니다. 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0은 0~1 MB, 블록 1은 1~2 MB … 서로 겹치지 않습니다.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커널 완독 · kernel_move_inv_write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kernel_move_inv_write(char* _ptr, char* end_ptr, unsigned int pattern) {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int i;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int* ptr = (unsigned int*)(_ptr + blockIdx.x*BLOCKSIZE);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(ptr &gt;= (unsigned int*) end_ptr) {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                       // 범위 밖이면 아무 것도 안 함(guard)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0; i &lt; BLOCKSIZE/sizeof(unsigned int); i++) {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ptr[i] = pattern;             // 1 MB를 4바이트씩 pattern으로 채움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tests.cpp:245  —  블록당 스레드 1개라 threadIdx가 등장하지 않습니다. 스레드 하나가 1 MB 전체를 순회합니다.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블록당 스레드 1개일까?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의도된 단순함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0~9의 목적은 속도가 아니라 정확한 진단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배선(address wire) 오류를 찾으려면 예측 가능한 접근 패턴이 유리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단순 = 버그가 적고 신뢰 가능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입문자가 읽기에 완벽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느리다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GPU의 수천 코어를 거의 놀림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블록당 스레드 1개 → 병렬성 최소</a:t>
            </a:r>
            <a:endParaRPr lang="en-US" sz="15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10은 정반대로 설계됨: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&lt;&lt;&lt;32768, 64&gt;&gt;&gt;  — 대역폭 최적화</a:t>
            </a:r>
            <a:endParaRPr lang="en-US" sz="1550" dirty="0"/>
          </a:p>
          <a:p>
            <a:pPr indent="0" marL="0">
              <a:buNone/>
            </a:pPr>
            <a:r>
              <a:rPr lang="en-US" sz="1550" i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세션 3에서 두 방식을 직접 비교합니다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커널을 부르는 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743200"/>
          </a:xfrm>
          <a:prstGeom prst="roundRect">
            <a:avLst>
              <a:gd name="adj" fmla="val 2000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1066190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6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move_inv_test  (tests.cpp:312)  — 호스트(CPU) 함수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tot_num_blocks; i += GRIDSIZE) {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dim3 grid;  grid.x = GRIDSIZE;                 // GRIDSIZE = 128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kernel_move_inv_write</a:t>
            </a:r>
            <a:pPr algn="l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&lt;&lt;&lt;grid, 1&gt;&gt;&gt;</a:t>
            </a:r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(ptr + i*BLOCKSIZE, end_ptr, p1);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128 MB(블록 128개)를 처리하고, </a:t>
            </a:r>
            <a:pPr indent="0" marL="0">
              <a:buNone/>
            </a:pPr>
            <a:r>
              <a:rPr lang="en-US" sz="17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for 루프</a:t>
            </a:r>
            <a:pPr indent="0" marL="0">
              <a:buNone/>
            </a:pPr>
            <a:r>
              <a:rPr lang="en-US" sz="17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전체 메모리를 128 MB씩 훑습니다. 4 GB이면 약 32번 반복됩니다.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미리보기 · Lab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스레드는 자기가 누구인지 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안에서 blockIdx.x를 printf로 출력해 확인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755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4FB0C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09560" y="1773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크기를 바꿔보기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65392" y="2651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GRIDSIZE를 32/128/512로 바꿔 실행 시간 측정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내 마음대로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--pattern 0xDEADBEEF 로 커널 인자 전달 관찰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32C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검사를 지우면?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guard를 없애 illegal memory access 재현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" cy="640080"/>
          </a:xfrm>
          <a:prstGeom prst="roundRect">
            <a:avLst>
              <a:gd name="adj" fmla="val 12857"/>
            </a:avLst>
          </a:prstGeom>
          <a:solidFill>
            <a:srgbClr val="8CC63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16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25880" y="384048"/>
            <a:ext cx="10287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 &amp; 자주 하는 실수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= __global__, 반환형 void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&lt;&lt;&lt;블록수, 블록당스레드수&gt;&gt;&gt;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blockIdx로 자기 구역 계산</a:t>
            </a:r>
            <a:endParaRPr lang="en-US" sz="1600" dirty="0"/>
          </a:p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검사(guard)는 필수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E232C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입문자 함정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800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커널을 일반 함수처럼 () 로 호출 → &lt;&lt;&lt;&gt;&gt;&gt; 필수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커널에서 값을 return 하려 함 → void, 결과는 메모리로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검사 생략 → 이웃 메모리 침범</a:t>
            </a:r>
            <a:endParaRPr lang="en-US" sz="1600" dirty="0"/>
          </a:p>
          <a:p>
            <a:pPr marL="342900" indent="-342900">
              <a:buSzPct val="100000"/>
              <a:buChar char="✗"/>
            </a:pPr>
            <a:r>
              <a:rPr lang="en-US" sz="16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포인터를 커널에 그대로 전달 → 디바이스 포인터여야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2 · 메모리 모델과 데이터 이동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값을 쓴 커널이, 다음엔 그 값을 </a:t>
            </a:r>
            <a:pPr indent="0" marL="0">
              <a:buNone/>
            </a:pPr>
            <a:r>
              <a:rPr lang="en-US" sz="2000" b="1" dirty="0">
                <a:solidFill>
                  <a:srgbClr val="4FB0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읽어서 검사</a:t>
            </a:r>
            <a:pPr indent="0" marL="0">
              <a:buNone/>
            </a:pPr>
            <a:r>
              <a:rPr lang="en-US" sz="2000" dirty="0">
                <a:solidFill>
                  <a:srgbClr val="E8ED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8CC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cudaMalloc · cudaMemcpy · cudaMemset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쓰기 커널을 끝내야 읽기 커널이 올바른 값을 볼까? (메모리 플러시)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7772400" cy="1005840"/>
          </a:xfrm>
          <a:prstGeom prst="roundRect">
            <a:avLst>
              <a:gd name="adj" fmla="val 5455"/>
            </a:avLst>
          </a:prstGeom>
          <a:solidFill>
            <a:srgbClr val="0E1116"/>
          </a:solidFill>
          <a:ln w="12700">
            <a:solidFill>
              <a:srgbClr val="2C34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5175504"/>
            <a:ext cx="7370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F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kernel_move_inv_readwrite  →  읽어서 검사하고, 보수(complement)를 쓴다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CC6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kernel_move_inv_read       →  다시 읽어서 검사한다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1을 먼저 완료하고 오세요.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2026-08-21T10:53:01Z</dcterms:created>
  <dcterms:modified xsi:type="dcterms:W3CDTF">2026-08-21T10:53:01Z</dcterms:modified>
</cp:coreProperties>
</file>