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만남. 오늘은 코드를 몰라도 됩니다. 모두가 빌드·실행에 성공하는 것이 목표.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로드맵을 먼저 보여줘 학습자가 어디로 가는지 알게 합니다. 세션 0은 그 출발점.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1에서 더 깊이 다룹니다. 여기선 'GPU=대규모 병렬'이라는 큰 그림만.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호스트/디바이스가 분리된 메모리를 갖는다는 것이 CUDA의 근본 구조. PCIe를 통한 cudaMemcpy가 다리 역할.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SW 스택: 내 코드→런타임→드라이버→HW. CMake가 런타임(CUDAToolkit)을 링크. cudaMalloc 한 줄이 아래로 내려간다.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하드/소프트 오류 구분은 세미나 전체의 배경. doc/의 SAAHPC 2009 논문(한국어 EPUB)을 안내.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아키텍처 번호를 왜 지정하는지(세대별 기계어)를 짚어주세요. 빌드 실패의 흔한 원인.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'아무 일도 안 일어나는데요?'가 정상. 세션 2에서 일부러 오류를 주입해 검출을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각 테스트가 서로 다른 종류의 오류를 노림. 세부 알고리즘은 세션 2~3에서 다룹니다.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코드 지도. main→thread_func→run_tests→커널. 각 단계가 앞으로의 세션에 대응.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세션 0의 핵심 목표: 전원 빌드·실행 성공. 환경 문제를 여기서 다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환경 준비 완료 → 세션 1부터 코드. kernel_move_inv_write로 시작.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8288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세미나 · 세션 0 (오리엔테이션)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22860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 구축과 큰 그림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520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cuda_memtest로 배우는 실전 GPU 프로그래밍 — 시작하기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4297680"/>
            <a:ext cx="8412480" cy="1371600"/>
          </a:xfrm>
          <a:prstGeom prst="roundRect">
            <a:avLst>
              <a:gd name="adj" fmla="val 4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49808" y="4443984"/>
            <a:ext cx="8010144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cmake -DCMAKE_CUDA_ARCHITECTURES=86 ..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./cuda_memtest --stress --num_iterations 100 --num_passes 1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입문 과정 · C를 아는 개발자 대상 · 다회차 시리즈의 출발점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세미나는?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장난감 예제가 아니라, </a:t>
            </a:r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동작하는 500줄+ 프로덕션 코드</a:t>
            </a:r>
            <a:pPr indent="0" marL="0">
              <a:buNone/>
            </a:pPr>
            <a:r>
              <a:rPr lang="en-US" sz="18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(cuda_memtest)를 교재로 CUDA를 배웁니다.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2286000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359152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2286000" y="2359152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스레드 모델 · 첫 커널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949440" y="2359152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__global__, &lt;&lt;&lt;grid,block&gt;&gt;&gt;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3090672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3163824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286000" y="3163824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메모리 모델 · 데이터 이동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949440" y="3163824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cudaMalloc/Memcpy, 이동 반전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48640" y="3895344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968496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3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286000" y="3968496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병렬성 · 성능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949440" y="3968496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210만 스레드, 대역폭, 병합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700016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4773168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645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4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2286000" y="4773168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원자연산 · 에러 핸들링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949440" y="4773168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atomicAdd, CUERR, 비동기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5504688"/>
            <a:ext cx="11064240" cy="694944"/>
          </a:xfrm>
          <a:prstGeom prst="roundRect">
            <a:avLst>
              <a:gd name="adj" fmla="val 7895"/>
            </a:avLst>
          </a:prstGeom>
          <a:solidFill>
            <a:srgbClr val="1E232C"/>
          </a:solidFill>
          <a:ln/>
        </p:spPr>
      </p:sp>
      <p:sp>
        <p:nvSpPr>
          <p:cNvPr id="22" name="Text 20"/>
          <p:cNvSpPr/>
          <p:nvPr/>
        </p:nvSpPr>
        <p:spPr>
          <a:xfrm>
            <a:off x="777240" y="557784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세션 5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2286000" y="5577840"/>
            <a:ext cx="4572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멀티 GPU · 이식성 · 프로젝트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949440" y="5577840"/>
            <a:ext cx="4389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pthread, HIP, 나만의 커널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컴퓨팅이란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소수 정예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복잡한 순차 작업에 최적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지연시간(latency) 최적화</a:t>
            </a:r>
            <a:endParaRPr lang="en-US" sz="1550" dirty="0"/>
          </a:p>
        </p:txBody>
      </p:sp>
      <p:sp>
        <p:nvSpPr>
          <p:cNvPr id="8" name="Shape 6"/>
          <p:cNvSpPr/>
          <p:nvPr/>
        </p:nvSpPr>
        <p:spPr>
          <a:xfrm>
            <a:off x="6263640" y="1554480"/>
            <a:ext cx="5349240" cy="4297680"/>
          </a:xfrm>
          <a:prstGeom prst="roundRect">
            <a:avLst>
              <a:gd name="adj" fmla="val 1702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37960" y="178308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537960" y="2286000"/>
            <a:ext cx="4800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대규모 병렬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537960" y="2926080"/>
            <a:ext cx="48006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단순한 코어 수천 개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연산을 대량 데이터에 동시에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처리량(throughput) 최적화</a:t>
            </a:r>
            <a:endParaRPr lang="en-US" sz="155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55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SIMT — 명령 하나, 스레드 여럿</a:t>
            </a:r>
            <a:endParaRPr lang="en-US" sz="155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cuda_memtest는 4 GB 메모리를 검사합니다 — 수천 스레드가 동시에 일해야 현실적 시간에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하드웨어 구조 · 호스트와 디바이스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CPU(호스트)와 GPU(디바이스)는 별개의 메모리를 가지며, 데이터는 PCIe를 통해 오갑니다.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4297680" cy="3703320"/>
          </a:xfrm>
          <a:prstGeom prst="roundRect">
            <a:avLst>
              <a:gd name="adj" fmla="val 1728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호스트(Host)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868680" y="2606040"/>
            <a:ext cx="3657600" cy="1234440"/>
          </a:xfrm>
          <a:prstGeom prst="roundRect">
            <a:avLst>
              <a:gd name="adj" fmla="val 3704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68680" y="27889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CPU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68680" y="32918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강력한 코어 수 개~수십 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4023360"/>
            <a:ext cx="3657600" cy="1280160"/>
          </a:xfrm>
          <a:prstGeom prst="roundRect">
            <a:avLst>
              <a:gd name="adj" fmla="val 3571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68680" y="42519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호스트 메모리 (RAM)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68680" y="47548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시스템 메인 메모리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7315200" y="1920240"/>
            <a:ext cx="4297680" cy="3703320"/>
          </a:xfrm>
          <a:prstGeom prst="roundRect">
            <a:avLst>
              <a:gd name="adj" fmla="val 1728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543800" y="205740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디바이스(Device) · GPU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63524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63524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63524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858393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8393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58393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953262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3262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53262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10481310" y="2606040"/>
            <a:ext cx="811530" cy="1234440"/>
          </a:xfrm>
          <a:prstGeom prst="roundRect">
            <a:avLst>
              <a:gd name="adj" fmla="val 4507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481310" y="2880360"/>
            <a:ext cx="8115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10481310" y="3246120"/>
            <a:ext cx="81153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코어</a:t>
            </a:r>
            <a:endParaRPr lang="en-US" sz="950" dirty="0"/>
          </a:p>
          <a:p>
            <a:pPr algn="ctr" indent="0" marL="0">
              <a:lnSpc>
                <a:spcPct val="100000"/>
              </a:lnSpc>
              <a:buNone/>
            </a:pPr>
            <a:r>
              <a:rPr lang="en-US" sz="9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다수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635240" y="385876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SM(스트리밍 멀티프로세서) 수십 개 · 코어 수천 개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7635240" y="4251960"/>
            <a:ext cx="3657600" cy="1051560"/>
          </a:xfrm>
          <a:prstGeom prst="roundRect">
            <a:avLst>
              <a:gd name="adj" fmla="val 4348"/>
            </a:avLst>
          </a:prstGeom>
          <a:solidFill>
            <a:srgbClr val="1A2418"/>
          </a:solidFill>
          <a:ln w="12700">
            <a:solidFill>
              <a:srgbClr val="8CC63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635240" y="4407408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디바이스 메모리 (VRAM)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635240" y="4800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검사하는 대상 (예: 4 GB)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4892040" y="3337560"/>
            <a:ext cx="2377440" cy="0"/>
          </a:xfrm>
          <a:prstGeom prst="line">
            <a:avLst/>
          </a:prstGeom>
          <a:noFill/>
          <a:ln w="38100">
            <a:solidFill>
              <a:srgbClr val="E0A458"/>
            </a:solidFill>
            <a:prstDash val="solid"/>
            <a:headEnd type="triangle"/>
            <a:tailEnd type="triangle"/>
          </a:ln>
        </p:spPr>
      </p:sp>
      <p:sp>
        <p:nvSpPr>
          <p:cNvPr id="32" name="Text 30"/>
          <p:cNvSpPr/>
          <p:nvPr/>
        </p:nvSpPr>
        <p:spPr>
          <a:xfrm>
            <a:off x="4892040" y="288036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PCIe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00600" y="34747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cudaMemcpy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8640" y="580644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핵심: CPU는 GPU 메모리를 직접 못 읽습니다. 반드시 cudaMemcpy로 복사해야 합니다 (세션 2에서 자세히).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소프트웨어 스택(software stack)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코드는 여러 계층 위에서 동작합니다. cudaMalloc 한 줄이 아래로 내려가 GPU까지 도달합니다.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7680960" cy="932688"/>
          </a:xfrm>
          <a:prstGeom prst="roundRect">
            <a:avLst>
              <a:gd name="adj" fmla="val 5882"/>
            </a:avLst>
          </a:prstGeom>
          <a:solidFill>
            <a:srgbClr val="1E232C"/>
          </a:solidFill>
          <a:ln w="19050">
            <a:solidFill>
              <a:srgbClr val="8CC63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048256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애플리케이션(Application)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22960" y="2432304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cuda_memtest — main(), tests.cpp의 커널·테스트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89120" y="2852928"/>
            <a:ext cx="0" cy="73152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548640" y="2907792"/>
            <a:ext cx="7680960" cy="932688"/>
          </a:xfrm>
          <a:prstGeom prst="roundRect">
            <a:avLst>
              <a:gd name="adj" fmla="val 5882"/>
            </a:avLst>
          </a:prstGeom>
          <a:solidFill>
            <a:srgbClr val="1E232C"/>
          </a:solidFill>
          <a:ln w="19050">
            <a:solidFill>
              <a:srgbClr val="4FB0C6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3035808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런타임 API(Runtime)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22960" y="3419856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cudaMalloc · cudaMemcpy · cudaSetDevice · &lt;&lt;&lt;&gt;&gt;&gt;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4389120" y="3840480"/>
            <a:ext cx="0" cy="73152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548640" y="3895344"/>
            <a:ext cx="7680960" cy="932688"/>
          </a:xfrm>
          <a:prstGeom prst="roundRect">
            <a:avLst>
              <a:gd name="adj" fmla="val 5882"/>
            </a:avLst>
          </a:prstGeom>
          <a:solidFill>
            <a:srgbClr val="1E232C"/>
          </a:solidFill>
          <a:ln w="19050">
            <a:solidFill>
              <a:srgbClr val="E0A45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22960" y="4023360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드라이버 / GPU 드라이버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4407408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커널을 GPU에 제출 · 메모리·스케줄 관리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389120" y="4828032"/>
            <a:ext cx="0" cy="73152"/>
          </a:xfrm>
          <a:prstGeom prst="line">
            <a:avLst/>
          </a:prstGeom>
          <a:noFill/>
          <a:ln w="19050">
            <a:solidFill>
              <a:srgbClr val="9AA6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548640" y="4882896"/>
            <a:ext cx="7680960" cy="932688"/>
          </a:xfrm>
          <a:prstGeom prst="roundRect">
            <a:avLst>
              <a:gd name="adj" fmla="val 5882"/>
            </a:avLst>
          </a:prstGeom>
          <a:solidFill>
            <a:srgbClr val="1E232C"/>
          </a:solidFill>
          <a:ln w="19050">
            <a:solidFill>
              <a:srgbClr val="9AA6B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5010912"/>
            <a:ext cx="7132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하드웨어(Hardware)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22960" y="5394960"/>
            <a:ext cx="71323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SM(스트리밍 멀티프로세서) · VRAM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8595360" y="2011680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짜는 코드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95360" y="2999232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libcudart · CMake의 find_package(CUDAToolkit)이 링크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8595360" y="3986784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libcuda · 커널 모드 드라이버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8595360" y="4974336"/>
            <a:ext cx="30175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연산·저장이 일어나는 곳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8595360" y="5806440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cudaMalloc / &lt;&lt;&lt;&gt;&gt;&gt; 호출이</a:t>
            </a:r>
            <a:endParaRPr lang="en-US" sz="115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1150" i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방향으로 내려갑니다 ↓</a:t>
            </a:r>
            <a:endParaRPr lang="en-US" sz="1150" dirty="0"/>
          </a:p>
        </p:txBody>
      </p:sp>
      <p:sp>
        <p:nvSpPr>
          <p:cNvPr id="25" name="Text 23"/>
          <p:cNvSpPr/>
          <p:nvPr/>
        </p:nvSpPr>
        <p:spPr>
          <a:xfrm>
            <a:off x="548640" y="594360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1~4에서 만나는 cudaMalloc·cudaMemcpy·&lt;&lt;&lt;&gt;&gt;&gt;는 모두 '런타임 API' 계층입니다.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cuda_memtest가 푸는 문제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메모리도 고장 납니다. 이 도구는 그 고장을 찾아냅니다.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6" name="Text 4"/>
          <p:cNvSpPr/>
          <p:nvPr/>
        </p:nvSpPr>
        <p:spPr>
          <a:xfrm>
            <a:off x="822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하드 오류(hard error)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영구적 고장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22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제조 결함·노후화로 특정 비트가 항상 틀림. 재부팅해도 그대로.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263640" y="2148840"/>
            <a:ext cx="534924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537960" y="2377440"/>
            <a:ext cx="4800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소프트 오류(soft error)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537960" y="2834640"/>
            <a:ext cx="4800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일시적 뒤집힘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37960" y="3337560"/>
            <a:ext cx="4800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우주 방사선 등으로 비트가 잠깐 뒤집힘. 다시 쓰면 정상.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4754880"/>
            <a:ext cx="11064240" cy="1143000"/>
          </a:xfrm>
          <a:prstGeom prst="roundRect">
            <a:avLst>
              <a:gd name="adj" fmla="val 6400"/>
            </a:avLst>
          </a:prstGeom>
          <a:solidFill>
            <a:srgbClr val="1A2418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493776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배경: </a:t>
            </a:r>
            <a:pPr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도구는 NCSA의 대규모 GPU 클러스터(500+ Tesla GPU) 운영에서 나왔습니다. 원논문은 doc/ 폴더에 있고, 한국어 EPUB 번역본도 함께 제공됩니다.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 시스템 · CMake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11064240" cy="1828800"/>
          </a:xfrm>
          <a:prstGeom prst="roundRect">
            <a:avLst>
              <a:gd name="adj" fmla="val 3000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1700784"/>
            <a:ext cx="10661904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mkdir build &amp;&amp; cd build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-DCMAKE_CUDA_ARCHITECTURES=86 ..   # 본인 GPU 번호로 교체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-j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AMD GPU면 HIP 백엔드</a:t>
            </a:r>
            <a:endParaRPr lang="en-US" sz="135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 -DCUDA_MEMTEST_BACKEND=hip -DGPU_TARGETS=gfx90a ..</a:t>
            </a:r>
            <a:endParaRPr lang="en-US" sz="1350" dirty="0"/>
          </a:p>
        </p:txBody>
      </p:sp>
      <p:sp>
        <p:nvSpPr>
          <p:cNvPr id="6" name="Shape 4"/>
          <p:cNvSpPr/>
          <p:nvPr/>
        </p:nvSpPr>
        <p:spPr>
          <a:xfrm>
            <a:off x="548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CMAKE_CUDA_ARCHITECTURES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세대(sm_XX)를 지정. 세대마다 기계어가 다름.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3703320"/>
            <a:ext cx="5349240" cy="1737360"/>
          </a:xfrm>
          <a:prstGeom prst="roundRect">
            <a:avLst>
              <a:gd name="adj" fmla="val 4211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6492240" y="3886200"/>
            <a:ext cx="4892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CUDA_MEMTEST_BACKEND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526280"/>
            <a:ext cx="4892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 / hip 백엔드 선택 (CMakeLists.txt:22).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GPU의 sm_XX 번호: developer.nvidia.com/cuda-gpus  (예: T4→75, RTX30→86, RTX40→89, A100→80)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22960" y="17647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4206240" y="18013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89120" y="18013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--list_tests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06240" y="23317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메모리 테스트가 나옴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971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1363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빠른 스트레스 실행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206240" y="31729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389120" y="31729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./cuda_memtest --stress --num_iterations 100 --num_passes 1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206240" y="37033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메모리를 실제로 검사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4343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1E232C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4507992"/>
            <a:ext cx="3291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0A45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점검 스크립트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4206240" y="4544568"/>
            <a:ext cx="5669280" cy="502920"/>
          </a:xfrm>
          <a:prstGeom prst="roundRect">
            <a:avLst>
              <a:gd name="adj" fmla="val 7273"/>
            </a:avLst>
          </a:prstGeom>
          <a:solidFill>
            <a:srgbClr val="0E1116"/>
          </a:solidFill>
          <a:ln w="12700">
            <a:solidFill>
              <a:srgbClr val="2C34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4544568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./sanity_check.sh 0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206240" y="5074920"/>
            <a:ext cx="7132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특정 GPU 건강 빠르게 점검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85216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오류 없이 끝나면 성공입니다 — 건강한 GPU는 '아무 일도 안 일어난 것처럼' 조용히 끝납니다.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11개 테스트 한눈에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50876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Walking 1 bit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150876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배선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32816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451104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28828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Own address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528828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 검사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107680" y="1600200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290560" y="1728216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9067800" y="1691640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(0/1)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9067800" y="2020824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73152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50876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(8bit)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150876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고착 오류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32816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1" name="Text 19"/>
          <p:cNvSpPr/>
          <p:nvPr/>
        </p:nvSpPr>
        <p:spPr>
          <a:xfrm>
            <a:off x="451104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528828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(random)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528828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8107680" y="2532888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5" name="Text 23"/>
          <p:cNvSpPr/>
          <p:nvPr/>
        </p:nvSpPr>
        <p:spPr>
          <a:xfrm>
            <a:off x="8290560" y="2660904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9067800" y="2624328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 move</a:t>
            </a:r>
            <a:endParaRPr lang="en-US" sz="1350" dirty="0"/>
          </a:p>
        </p:txBody>
      </p:sp>
      <p:sp>
        <p:nvSpPr>
          <p:cNvPr id="27" name="Text 25"/>
          <p:cNvSpPr/>
          <p:nvPr/>
        </p:nvSpPr>
        <p:spPr>
          <a:xfrm>
            <a:off x="9067800" y="2953512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4864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29" name="Text 27"/>
          <p:cNvSpPr/>
          <p:nvPr/>
        </p:nvSpPr>
        <p:spPr>
          <a:xfrm>
            <a:off x="73152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150876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Moving inv. (shift)</a:t>
            </a:r>
            <a:endParaRPr lang="en-US" sz="1350" dirty="0"/>
          </a:p>
        </p:txBody>
      </p:sp>
      <p:sp>
        <p:nvSpPr>
          <p:cNvPr id="31" name="Text 29"/>
          <p:cNvSpPr/>
          <p:nvPr/>
        </p:nvSpPr>
        <p:spPr>
          <a:xfrm>
            <a:off x="150876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32816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3" name="Text 31"/>
          <p:cNvSpPr/>
          <p:nvPr/>
        </p:nvSpPr>
        <p:spPr>
          <a:xfrm>
            <a:off x="451104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28828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Random sequence</a:t>
            </a:r>
            <a:endParaRPr lang="en-US" sz="1350" dirty="0"/>
          </a:p>
        </p:txBody>
      </p:sp>
      <p:sp>
        <p:nvSpPr>
          <p:cNvPr id="35" name="Text 33"/>
          <p:cNvSpPr/>
          <p:nvPr/>
        </p:nvSpPr>
        <p:spPr>
          <a:xfrm>
            <a:off x="528828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36" name="Shape 34"/>
          <p:cNvSpPr/>
          <p:nvPr/>
        </p:nvSpPr>
        <p:spPr>
          <a:xfrm>
            <a:off x="8107680" y="3465576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37" name="Text 35"/>
          <p:cNvSpPr/>
          <p:nvPr/>
        </p:nvSpPr>
        <p:spPr>
          <a:xfrm>
            <a:off x="8290560" y="3593592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9067800" y="3557016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Modulo 20</a:t>
            </a:r>
            <a:endParaRPr lang="en-US" sz="1350" dirty="0"/>
          </a:p>
        </p:txBody>
      </p:sp>
      <p:sp>
        <p:nvSpPr>
          <p:cNvPr id="39" name="Text 37"/>
          <p:cNvSpPr/>
          <p:nvPr/>
        </p:nvSpPr>
        <p:spPr>
          <a:xfrm>
            <a:off x="9067800" y="3886200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민감</a:t>
            </a:r>
            <a:endParaRPr lang="en-US" sz="1150" dirty="0"/>
          </a:p>
        </p:txBody>
      </p:sp>
      <p:sp>
        <p:nvSpPr>
          <p:cNvPr id="40" name="Shape 38"/>
          <p:cNvSpPr/>
          <p:nvPr/>
        </p:nvSpPr>
        <p:spPr>
          <a:xfrm>
            <a:off x="54864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1" name="Text 39"/>
          <p:cNvSpPr/>
          <p:nvPr/>
        </p:nvSpPr>
        <p:spPr>
          <a:xfrm>
            <a:off x="73152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9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50876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Bit fade (3h)</a:t>
            </a:r>
            <a:endParaRPr lang="en-US" sz="1350" dirty="0"/>
          </a:p>
        </p:txBody>
      </p:sp>
      <p:sp>
        <p:nvSpPr>
          <p:cNvPr id="43" name="Text 41"/>
          <p:cNvSpPr/>
          <p:nvPr/>
        </p:nvSpPr>
        <p:spPr>
          <a:xfrm>
            <a:off x="150876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보존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328160" y="4398264"/>
            <a:ext cx="3505200" cy="786384"/>
          </a:xfrm>
          <a:prstGeom prst="roundRect">
            <a:avLst>
              <a:gd name="adj" fmla="val 6977"/>
            </a:avLst>
          </a:prstGeom>
          <a:solidFill>
            <a:srgbClr val="1E232C"/>
          </a:solidFill>
          <a:ln/>
        </p:spPr>
      </p:sp>
      <p:sp>
        <p:nvSpPr>
          <p:cNvPr id="45" name="Text 43"/>
          <p:cNvSpPr/>
          <p:nvPr/>
        </p:nvSpPr>
        <p:spPr>
          <a:xfrm>
            <a:off x="4511040" y="4526280"/>
            <a:ext cx="658368" cy="530352"/>
          </a:xfrm>
          <a:prstGeom prst="roundRect">
            <a:avLst>
              <a:gd name="adj" fmla="val 103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</a:t>
            </a:r>
            <a:endParaRPr lang="en-US" sz="1600" dirty="0"/>
          </a:p>
        </p:txBody>
      </p:sp>
      <p:sp>
        <p:nvSpPr>
          <p:cNvPr id="46" name="Text 44"/>
          <p:cNvSpPr/>
          <p:nvPr/>
        </p:nvSpPr>
        <p:spPr>
          <a:xfrm>
            <a:off x="5288280" y="4489704"/>
            <a:ext cx="2407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Memory stress</a:t>
            </a:r>
            <a:endParaRPr lang="en-US" sz="1350" dirty="0"/>
          </a:p>
        </p:txBody>
      </p:sp>
      <p:sp>
        <p:nvSpPr>
          <p:cNvPr id="47" name="Text 45"/>
          <p:cNvSpPr/>
          <p:nvPr/>
        </p:nvSpPr>
        <p:spPr>
          <a:xfrm>
            <a:off x="5288280" y="4818888"/>
            <a:ext cx="24079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스트레스·소프트</a:t>
            </a:r>
            <a:endParaRPr lang="en-US" sz="1150" dirty="0"/>
          </a:p>
        </p:txBody>
      </p:sp>
      <p:sp>
        <p:nvSpPr>
          <p:cNvPr id="48" name="Text 46"/>
          <p:cNvSpPr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Test 9(bit fade)는 3시간 걸려 기본 비활성. Test 10(스트레스)은 소프트 오류·급성 하드 오류에 특히 유용.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프로그램의 큰 흐름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main()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 개수 확인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cudaGetDeviceCount (cuda_memtest.cpp:299)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11810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338328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1" name="Text 9"/>
          <p:cNvSpPr/>
          <p:nvPr/>
        </p:nvSpPr>
        <p:spPr>
          <a:xfrm>
            <a:off x="356616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56616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4FB0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thread_func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GPU마다 스레드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6616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각 GPU를 cudaSetDevice로 선택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95274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21792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40080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0A45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run_tests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실행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cuda_memtests[] 배열을 순회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8787384" y="2743200"/>
            <a:ext cx="2560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9AA6B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</a:t>
            </a:r>
            <a:endParaRPr lang="en-US" sz="2000" dirty="0"/>
          </a:p>
        </p:txBody>
      </p:sp>
      <p:sp>
        <p:nvSpPr>
          <p:cNvPr id="22" name="Shape 20"/>
          <p:cNvSpPr/>
          <p:nvPr/>
        </p:nvSpPr>
        <p:spPr>
          <a:xfrm>
            <a:off x="9052560" y="1828800"/>
            <a:ext cx="2560320" cy="2377440"/>
          </a:xfrm>
          <a:prstGeom prst="roundRect">
            <a:avLst>
              <a:gd name="adj" fmla="val 3077"/>
            </a:avLst>
          </a:prstGeom>
          <a:solidFill>
            <a:srgbClr val="1E232C"/>
          </a:solidFill>
          <a:ln/>
        </p:spPr>
      </p:sp>
      <p:sp>
        <p:nvSpPr>
          <p:cNvPr id="23" name="Text 21"/>
          <p:cNvSpPr/>
          <p:nvPr/>
        </p:nvSpPr>
        <p:spPr>
          <a:xfrm>
            <a:off x="9235440" y="20116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9235440" y="26974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C6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각 테스트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923544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 실행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235440" y="347472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write → read → check (세션 1~2)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48640" y="47548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흐름의 각 단계를 앞으로 5회에 걸쳐 안쪽까지 파고듭니다. 오늘은 지도만 봐 두세요.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640080" cy="640080"/>
          </a:xfrm>
          <a:prstGeom prst="roundRect">
            <a:avLst>
              <a:gd name="adj" fmla="val 12857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1325880" y="384048"/>
            <a:ext cx="1028700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미리보기 · Lab 0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5" name="Text 3"/>
          <p:cNvSpPr/>
          <p:nvPr/>
        </p:nvSpPr>
        <p:spPr>
          <a:xfrm>
            <a:off x="80467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4FB0C6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0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214884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환경 점검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80467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nvidia-smi · nvcc · cmake 버전 확인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309360" y="1554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9" name="Text 7"/>
          <p:cNvSpPr/>
          <p:nvPr/>
        </p:nvSpPr>
        <p:spPr>
          <a:xfrm>
            <a:off x="6565392" y="1755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1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7909560" y="1773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빌드하기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65392" y="2651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cmake + make로 cuda_memtest 생성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3" name="Text 11"/>
          <p:cNvSpPr/>
          <p:nvPr/>
        </p:nvSpPr>
        <p:spPr>
          <a:xfrm>
            <a:off x="80467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E0A458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2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214884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테스트 목록 보기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80467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--list_tests 로 11개 테스트 확인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309360" y="3840480"/>
            <a:ext cx="5303520" cy="1965960"/>
          </a:xfrm>
          <a:prstGeom prst="roundRect">
            <a:avLst>
              <a:gd name="adj" fmla="val 3721"/>
            </a:avLst>
          </a:prstGeom>
          <a:solidFill>
            <a:srgbClr val="1E232C"/>
          </a:solidFill>
          <a:ln/>
        </p:spPr>
      </p:sp>
      <p:sp>
        <p:nvSpPr>
          <p:cNvPr id="17" name="Text 15"/>
          <p:cNvSpPr/>
          <p:nvPr/>
        </p:nvSpPr>
        <p:spPr>
          <a:xfrm>
            <a:off x="6565392" y="4041648"/>
            <a:ext cx="1188720" cy="502920"/>
          </a:xfrm>
          <a:prstGeom prst="roundRect">
            <a:avLst>
              <a:gd name="adj" fmla="val 14545"/>
            </a:avLst>
          </a:prstGeom>
          <a:solidFill>
            <a:srgbClr val="8CC63F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13161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 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7909560" y="4059936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실행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65392" y="4937760"/>
            <a:ext cx="479145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--stress 로 GPU 메모리 실제 검사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GPU가 없다면 Google Colab(런타임→GPU)으로 진행할 수 있습니다.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세션 예고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196596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세션 1 · CUDA 스레드 모델과 첫 커널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환경이 준비됐으니, 이제 </a:t>
            </a:r>
            <a:pPr indent="0" marL="0">
              <a:buNone/>
            </a:pPr>
            <a:r>
              <a:rPr lang="en-US" sz="2000" b="1" dirty="0">
                <a:solidFill>
                  <a:srgbClr val="4FB0C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 안으로</a:t>
            </a:r>
            <a:pPr indent="0" marL="0">
              <a:buNone/>
            </a:pPr>
            <a:r>
              <a:rPr lang="en-US" sz="2000" dirty="0">
                <a:solidFill>
                  <a:srgbClr val="E8EDF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들어갑니다.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548640" y="379476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8CC63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__global__ 커널이 무엇인지</a:t>
            </a:r>
            <a:endParaRPr lang="en-US" sz="16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&lt;&lt;&lt;grid, block&gt;&gt;&gt;으로 GPU에 일을 시키는 법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가장 단순한 커널 kernel_move_inv_write를 한 줄씩 읽기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58521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AA6B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 랩 0(빌드·실행)을 먼저 완료하고 오세요.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2026-08-21T16:03:03Z</dcterms:created>
  <dcterms:modified xsi:type="dcterms:W3CDTF">2026-08-21T16:03:03Z</dcterms:modified>
</cp:coreProperties>
</file>